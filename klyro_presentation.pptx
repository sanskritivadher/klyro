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2560320" cy="411480"/>
          </a:xfrm>
          <a:prstGeom prst="roundRect">
            <a:avLst/>
          </a:prstGeom>
          <a:solidFill>
            <a:srgbClr val="FDEDE8"/>
          </a:solidFill>
          <a:ln w="19050">
            <a:solidFill>
              <a:srgbClr val="D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5644"/>
                </a:solidFill>
                <a:latin typeface="Trebuchet MS"/>
              </a:defRPr>
            </a:pPr>
            <a:r>
              <a:t>⚡ PRODUCTION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1C1917"/>
                </a:solidFill>
                <a:latin typeface="Georgia"/>
              </a:defRPr>
            </a:pPr>
            <a:r>
              <a:t>KLYRO</a:t>
            </a:r>
          </a:p>
          <a:p>
            <a:pPr>
              <a:defRPr sz="2400">
                <a:solidFill>
                  <a:srgbClr val="D45644"/>
                </a:solidFill>
                <a:latin typeface="Georgia"/>
              </a:defRPr>
            </a:pPr>
            <a:r>
              <a:t>Personal Financial Intelligence Workspace</a:t>
            </a:r>
          </a:p>
          <a:p>
            <a:pPr>
              <a:defRPr sz="1300">
                <a:solidFill>
                  <a:srgbClr val="2D7A58"/>
                </a:solidFill>
                <a:latin typeface="Trebuchet MS"/>
              </a:defRPr>
            </a:pPr>
            <a:r>
              <a:t>Live Cloud Application: https://klyro-iota.vercel.app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383280"/>
            <a:ext cx="3429000" cy="1188720"/>
          </a:xfrm>
          <a:prstGeom prst="roundRect">
            <a:avLst/>
          </a:prstGeom>
          <a:solidFill>
            <a:srgbClr val="FDEDE8"/>
          </a:solidFill>
          <a:ln w="19050">
            <a:solidFill>
              <a:srgbClr val="D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45644"/>
                </a:solidFill>
                <a:latin typeface="Trebuchet MS"/>
              </a:defRPr>
            </a:pPr>
            <a:r>
              <a:t>₹0.00 DRIFT</a:t>
            </a:r>
          </a:p>
          <a:p>
            <a:pPr algn="ctr">
              <a:defRPr sz="1200">
                <a:solidFill>
                  <a:srgbClr val="1C1917"/>
                </a:solidFill>
                <a:latin typeface="Arial"/>
              </a:defRPr>
            </a:pPr>
            <a:r>
              <a:t>Integer Paise Precision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3383280"/>
            <a:ext cx="3429000" cy="1188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D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D7A58"/>
                </a:solidFill>
                <a:latin typeface="Trebuchet MS"/>
              </a:defRPr>
            </a:pPr>
            <a:r>
              <a:t>0 BUILD STEPS</a:t>
            </a:r>
          </a:p>
          <a:p>
            <a:pPr algn="ctr">
              <a:defRPr sz="1200">
                <a:solidFill>
                  <a:srgbClr val="1C1917"/>
                </a:solidFill>
                <a:latin typeface="Arial"/>
              </a:defRPr>
            </a:pPr>
            <a:r>
              <a:t>Vanilla ES Modules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3383280"/>
            <a:ext cx="3429000" cy="11887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97706"/>
                </a:solidFill>
                <a:latin typeface="Trebuchet MS"/>
              </a:defRPr>
            </a:pPr>
            <a:r>
              <a:t>42 ENDPOINTS</a:t>
            </a:r>
          </a:p>
          <a:p>
            <a:pPr algn="ctr">
              <a:defRPr sz="1200">
                <a:solidFill>
                  <a:srgbClr val="1C1917"/>
                </a:solidFill>
                <a:latin typeface="Arial"/>
              </a:defRPr>
            </a:pPr>
            <a:r>
              <a:t>FastAPI + Pydantic 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716C"/>
                </a:solidFill>
                <a:latin typeface="Trebuchet MS"/>
              </a:defRPr>
            </a:pPr>
            <a:r>
              <a:t>PROJECT TEAM</a:t>
            </a:r>
          </a:p>
          <a:p>
            <a:pPr>
              <a:defRPr sz="1300" b="1">
                <a:solidFill>
                  <a:srgbClr val="1C1917"/>
                </a:solidFill>
                <a:latin typeface="Arial"/>
              </a:defRPr>
            </a:pPr>
            <a:r>
              <a:t>• [Team Member 1 Name]   |   Roll No: [Roll Number 1]</a:t>
            </a:r>
          </a:p>
          <a:p>
            <a:pPr>
              <a:defRPr sz="1300" b="1">
                <a:solidFill>
                  <a:srgbClr val="1C1917"/>
                </a:solidFill>
                <a:latin typeface="Arial"/>
              </a:defRPr>
            </a:pPr>
            <a:r>
              <a:t>• [Team Member 2 Name]   |   Roll No: [Roll Number 2]</a:t>
            </a:r>
          </a:p>
          <a:p>
            <a:pPr>
              <a:defRPr sz="1300" b="1">
                <a:solidFill>
                  <a:srgbClr val="1C1917"/>
                </a:solidFill>
                <a:latin typeface="Arial"/>
              </a:defRPr>
            </a:pPr>
            <a:r>
              <a:t>• [Team Member 3 Name]   |   Roll No: [Roll Number 3]</a:t>
            </a:r>
          </a:p>
          <a:p>
            <a:pPr>
              <a:defRPr sz="1300" b="1">
                <a:solidFill>
                  <a:srgbClr val="1C1917"/>
                </a:solidFill>
                <a:latin typeface="Arial"/>
              </a:defRPr>
            </a:pPr>
            <a:r>
              <a:t>• [Team Member 4 Name]   |   Roll No: [Roll Number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5644"/>
                </a:solidFill>
                <a:latin typeface="Trebuchet MS"/>
              </a:defRPr>
            </a:pPr>
            <a:r>
              <a:t>WHY KLYRO?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917"/>
                </a:solidFill>
                <a:latin typeface="Georgia"/>
              </a:defRPr>
            </a:pPr>
            <a:r>
              <a:t>The Problem vs. The Klyro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DEDE8"/>
          </a:solidFill>
          <a:ln w="19050">
            <a:solidFill>
              <a:srgbClr val="D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5644"/>
                </a:solidFill>
                <a:latin typeface="Trebuchet MS"/>
              </a:defRPr>
            </a:pPr>
            <a:r>
              <a:t>⚠️ THE PROBLEM</a:t>
            </a:r>
          </a:p>
          <a:p>
            <a:br/>
            <a:pPr>
              <a:defRPr sz="1500" b="1">
                <a:solidFill>
                  <a:srgbClr val="1C1917"/>
                </a:solidFill>
                <a:latin typeface="Georgia"/>
              </a:defRPr>
            </a:pPr>
            <a:r>
              <a:t>• Floating-Point Drift</a:t>
            </a:r>
          </a:p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  0.1 + 0.2 = 0.30000000000000004 destroys financial trust and balance accuracy.</a:t>
            </a:r>
          </a:p>
          <a:p>
            <a:br/>
            <a:pPr>
              <a:defRPr sz="1500" b="1">
                <a:solidFill>
                  <a:srgbClr val="1C1917"/>
                </a:solidFill>
                <a:latin typeface="Georgia"/>
              </a:defRPr>
            </a:pPr>
            <a:r>
              <a:t>• Opaque Discretionary Cash</a:t>
            </a:r>
          </a:p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  Budgeters cannot answer: 'Can I safely spend ₹500 today without missing rent next week?'</a:t>
            </a:r>
          </a:p>
          <a:p>
            <a:br/>
            <a:pPr>
              <a:defRPr sz="1500" b="1">
                <a:solidFill>
                  <a:srgbClr val="1C1917"/>
                </a:solidFill>
                <a:latin typeface="Georgia"/>
              </a:defRPr>
            </a:pPr>
            <a:r>
              <a:t>• Sluggish Frontend Bloat</a:t>
            </a:r>
          </a:p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  Heavy React/Next framework bundles create slow, unresponsive mobile experiences.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D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7A58"/>
                </a:solidFill>
                <a:latin typeface="Trebuchet MS"/>
              </a:defRPr>
            </a:pPr>
            <a:r>
              <a:t>✨ THE KLYRO SOLUTION</a:t>
            </a:r>
          </a:p>
          <a:p>
            <a:br/>
            <a:pPr>
              <a:defRPr sz="1500" b="1">
                <a:solidFill>
                  <a:srgbClr val="1C1917"/>
                </a:solidFill>
                <a:latin typeface="Georgia"/>
              </a:defRPr>
            </a:pPr>
            <a:r>
              <a:t>• 100% Integer Paise Math</a:t>
            </a:r>
          </a:p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  All currency modeled in 64-bit integer paise (₹500 = 50,000 paise). Zero drift.</a:t>
            </a:r>
          </a:p>
          <a:p>
            <a:br/>
            <a:pPr>
              <a:defRPr sz="1500" b="1">
                <a:solidFill>
                  <a:srgbClr val="1C1917"/>
                </a:solidFill>
                <a:latin typeface="Georgia"/>
              </a:defRPr>
            </a:pPr>
            <a:r>
              <a:t>• Explainable Safe-to-Spend</a:t>
            </a:r>
          </a:p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  Algorithmic runway deduction protecting bills, EMIs, and a 10% safety cushion.</a:t>
            </a:r>
          </a:p>
          <a:p>
            <a:br/>
            <a:pPr>
              <a:defRPr sz="1500" b="1">
                <a:solidFill>
                  <a:srgbClr val="1C1917"/>
                </a:solidFill>
                <a:latin typeface="Georgia"/>
              </a:defRPr>
            </a:pPr>
            <a:r>
              <a:t>• Zero-Build Native Frontend</a:t>
            </a:r>
          </a:p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  Pure browser-native ES Modules + Tailwind CDN. Instant load on any 360px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5644"/>
                </a:solidFill>
                <a:latin typeface="Trebuchet MS"/>
              </a:defRPr>
            </a:pPr>
            <a:r>
              <a:t>ENGINEERING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917"/>
                </a:solidFill>
                <a:latin typeface="Georgia"/>
              </a:defRPr>
            </a:pPr>
            <a:r>
              <a:t>Modern Decoupled Technical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7A58"/>
                </a:solidFill>
                <a:latin typeface="Trebuchet MS"/>
              </a:defRPr>
            </a:pPr>
            <a:r>
              <a:t>1. CLIENT LAYER</a:t>
            </a:r>
          </a:p>
          <a:p>
            <a:pPr>
              <a:defRPr sz="1600" b="1">
                <a:solidFill>
                  <a:srgbClr val="1C1917"/>
                </a:solidFill>
                <a:latin typeface="Georgia"/>
              </a:defRPr>
            </a:pPr>
            <a:r>
              <a:t>Browser-Native ES Modules</a:t>
            </a:r>
          </a:p>
          <a:p>
            <a:pPr>
              <a:defRPr sz="600"/>
            </a:pPr>
            <a:r>
              <a:t> 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• Vanilla ES2022+ Modules (No Webpack / Vite build)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• Tailwind CSS CDN + Warm Editorial Typography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• Chart.js Visualizations (Donuts, Cash Flow Timelines)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• Canvas Confetti Delight on Transactions &amp;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5644"/>
                </a:solidFill>
                <a:latin typeface="Trebuchet MS"/>
              </a:defRPr>
            </a:pPr>
            <a:r>
              <a:t>2. API &amp; LOGIC LAYER</a:t>
            </a:r>
          </a:p>
          <a:p>
            <a:pPr>
              <a:defRPr sz="1600" b="1">
                <a:solidFill>
                  <a:srgbClr val="1C1917"/>
                </a:solidFill>
                <a:latin typeface="Georgia"/>
              </a:defRPr>
            </a:pPr>
            <a:r>
              <a:t>Python FastAPI Engine</a:t>
            </a:r>
          </a:p>
          <a:p>
            <a:pPr>
              <a:defRPr sz="600"/>
            </a:pPr>
            <a:r>
              <a:t> 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• FastAPI 0.115 Asynchronous ASGI Web Service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• Pydantic v2 Strict Request/Response Type Validation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• Financial Calculation Engine (Safe-to-Spend, Run-Rates)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• Bcrypt Password Hashing &amp; Stateless JWT Auth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  <a:latin typeface="Trebuchet MS"/>
              </a:defRPr>
            </a:pPr>
            <a:r>
              <a:t>3. PERSISTENCE LAYER</a:t>
            </a:r>
          </a:p>
          <a:p>
            <a:pPr>
              <a:defRPr sz="1600" b="1">
                <a:solidFill>
                  <a:srgbClr val="1C1917"/>
                </a:solidFill>
                <a:latin typeface="Georgia"/>
              </a:defRPr>
            </a:pPr>
            <a:r>
              <a:t>Dual-Engine Strategy</a:t>
            </a:r>
          </a:p>
          <a:p>
            <a:pPr>
              <a:defRPr sz="600"/>
            </a:pPr>
            <a:r>
              <a:t> 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• Production: Neon Serverless PostgreSQL (AWS Pooled)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• Local Dev: SQLite (kosh.db with foreign keys ON)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• SQLAlchemy 2.0 ORM + Alembic Schema Migrations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• psycopg3 High-Performance Database Driver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5644"/>
                </a:solidFill>
                <a:latin typeface="Trebuchet MS"/>
              </a:defRPr>
            </a:pPr>
            <a: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917"/>
                </a:solidFill>
                <a:latin typeface="Georgia"/>
              </a:defRPr>
            </a:pPr>
            <a:r>
              <a:t>Database Architecture &amp; Relational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5644"/>
                </a:solidFill>
                <a:latin typeface="Trebuchet MS"/>
              </a:defRPr>
            </a:pPr>
            <a:r>
              <a:t>RELATIONAL SCHEMA (10 TABLES)</a:t>
            </a:r>
          </a:p>
          <a:p>
            <a:pPr>
              <a:defRPr sz="1300" b="1">
                <a:solidFill>
                  <a:srgbClr val="1C1917"/>
                </a:solidFill>
                <a:latin typeface="Georgia"/>
              </a:defRPr>
            </a:pPr>
            <a:r>
              <a:t>• users (1:N) accounts</a:t>
            </a:r>
          </a:p>
          <a:p>
            <a:pPr>
              <a:defRPr sz="1050">
                <a:solidFill>
                  <a:srgbClr val="78716C"/>
                </a:solidFill>
                <a:latin typeface="Arial"/>
              </a:defRPr>
            </a:pPr>
            <a:r>
              <a:t>   One user owns multiple bank, wallet, card accounts.</a:t>
            </a:r>
          </a:p>
          <a:p>
            <a:pPr>
              <a:defRPr sz="1300" b="1">
                <a:solidFill>
                  <a:srgbClr val="1C1917"/>
                </a:solidFill>
                <a:latin typeface="Georgia"/>
              </a:defRPr>
            </a:pPr>
            <a:r>
              <a:t>• accounts (1:N) transactions</a:t>
            </a:r>
          </a:p>
          <a:p>
            <a:pPr>
              <a:defRPr sz="1050">
                <a:solidFill>
                  <a:srgbClr val="78716C"/>
                </a:solidFill>
                <a:latin typeface="Arial"/>
              </a:defRPr>
            </a:pPr>
            <a:r>
              <a:t>   Accounts record double-entry transactions.</a:t>
            </a:r>
          </a:p>
          <a:p>
            <a:pPr>
              <a:defRPr sz="1300" b="1">
                <a:solidFill>
                  <a:srgbClr val="1C1917"/>
                </a:solidFill>
                <a:latin typeface="Georgia"/>
              </a:defRPr>
            </a:pPr>
            <a:r>
              <a:t>• categories (1:N) transactions</a:t>
            </a:r>
          </a:p>
          <a:p>
            <a:pPr>
              <a:defRPr sz="1050">
                <a:solidFill>
                  <a:srgbClr val="78716C"/>
                </a:solidFill>
                <a:latin typeface="Arial"/>
              </a:defRPr>
            </a:pPr>
            <a:r>
              <a:t>   Categorizes income, expense, and transfer legs.</a:t>
            </a:r>
          </a:p>
          <a:p>
            <a:pPr>
              <a:defRPr sz="1300" b="1">
                <a:solidFill>
                  <a:srgbClr val="1C1917"/>
                </a:solidFill>
                <a:latin typeface="Georgia"/>
              </a:defRPr>
            </a:pPr>
            <a:r>
              <a:t>• budgets (1:N) budget_allocations</a:t>
            </a:r>
          </a:p>
          <a:p>
            <a:pPr>
              <a:defRPr sz="1050">
                <a:solidFill>
                  <a:srgbClr val="78716C"/>
                </a:solidFill>
                <a:latin typeface="Arial"/>
              </a:defRPr>
            </a:pPr>
            <a:r>
              <a:t>   Envelopes mapped to categories with limits.</a:t>
            </a:r>
          </a:p>
          <a:p>
            <a:pPr>
              <a:defRPr sz="1300" b="1">
                <a:solidFill>
                  <a:srgbClr val="1C1917"/>
                </a:solidFill>
                <a:latin typeface="Georgia"/>
              </a:defRPr>
            </a:pPr>
            <a:r>
              <a:t>• users (1:N) recurring_rules</a:t>
            </a:r>
          </a:p>
          <a:p>
            <a:pPr>
              <a:defRPr sz="1050">
                <a:solidFill>
                  <a:srgbClr val="78716C"/>
                </a:solidFill>
                <a:latin typeface="Arial"/>
              </a:defRPr>
            </a:pPr>
            <a:r>
              <a:t>   Schedules 30-day bill &amp; SIP commitment radar.</a:t>
            </a:r>
          </a:p>
          <a:p>
            <a:pPr>
              <a:defRPr sz="1300" b="1">
                <a:solidFill>
                  <a:srgbClr val="1C1917"/>
                </a:solidFill>
                <a:latin typeface="Georgia"/>
              </a:defRPr>
            </a:pPr>
            <a:r>
              <a:t>• goals (1:N) goal_contributions</a:t>
            </a:r>
          </a:p>
          <a:p>
            <a:pPr>
              <a:defRPr sz="1050">
                <a:solidFill>
                  <a:srgbClr val="78716C"/>
                </a:solidFill>
                <a:latin typeface="Arial"/>
              </a:defRPr>
            </a:pPr>
            <a:r>
              <a:t>   Tracks milestones &amp; savings velocity deposits.</a:t>
            </a:r>
          </a:p>
          <a:p>
            <a:pPr>
              <a:defRPr sz="1300" b="1">
                <a:solidFill>
                  <a:srgbClr val="1C1917"/>
                </a:solidFill>
                <a:latin typeface="Georgia"/>
              </a:defRPr>
            </a:pPr>
            <a:r>
              <a:t>• transactions (1:1) transactions</a:t>
            </a:r>
          </a:p>
          <a:p>
            <a:pPr>
              <a:defRPr sz="1050">
                <a:solidFill>
                  <a:srgbClr val="78716C"/>
                </a:solidFill>
                <a:latin typeface="Arial"/>
              </a:defRPr>
            </a:pPr>
            <a:r>
              <a:t>   Sister transfer legs bound by transfer_group_id.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45920"/>
            <a:ext cx="4937760" cy="1371600"/>
          </a:xfrm>
          <a:prstGeom prst="roundRect">
            <a:avLst/>
          </a:prstGeom>
          <a:solidFill>
            <a:srgbClr val="FDEDE8"/>
          </a:solidFill>
          <a:ln w="19050">
            <a:solidFill>
              <a:srgbClr val="D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5644"/>
                </a:solidFill>
                <a:latin typeface="Trebuchet MS"/>
              </a:defRPr>
            </a:pPr>
            <a:r>
              <a:t>RULE 1: INTEGER PAISE</a:t>
            </a:r>
          </a:p>
          <a:p>
            <a:pPr>
              <a:defRPr sz="1150">
                <a:solidFill>
                  <a:srgbClr val="1C1917"/>
                </a:solidFill>
                <a:latin typeface="Arial"/>
              </a:defRPr>
            </a:pPr>
            <a:r>
              <a:t>Every monetary column is 64-bit BIGINT paise. ₹500 is stored as 50000. Floats are banned.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182112"/>
            <a:ext cx="4937760" cy="1371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D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7A58"/>
                </a:solidFill>
                <a:latin typeface="Trebuchet MS"/>
              </a:defRPr>
            </a:pPr>
            <a:r>
              <a:t>RULE 2: ATOMIC TRANSFERS</a:t>
            </a:r>
          </a:p>
          <a:p>
            <a:pPr>
              <a:defRPr sz="1150">
                <a:solidFill>
                  <a:srgbClr val="1C1917"/>
                </a:solidFill>
                <a:latin typeface="Arial"/>
              </a:defRPr>
            </a:pPr>
            <a:r>
              <a:t>Moving money generates two synchronized rows sharing a UUID. Both commit together or roll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4718304"/>
            <a:ext cx="4937760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  <a:latin typeface="Trebuchet MS"/>
              </a:defRPr>
            </a:pPr>
            <a:r>
              <a:t>RULE 3: RESERVE SHIELD</a:t>
            </a:r>
          </a:p>
          <a:p>
            <a:pPr>
              <a:defRPr sz="1150">
                <a:solidFill>
                  <a:srgbClr val="1C1917"/>
                </a:solidFill>
                <a:latin typeface="Arial"/>
              </a:defRPr>
            </a:pPr>
            <a:r>
              <a:t>accounts.is_reserve = True marks emergency funds, programmatically excluding them from spendable cash.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5644"/>
                </a:solidFill>
                <a:latin typeface="Trebuchet MS"/>
              </a:defRPr>
            </a:pPr>
            <a:r>
              <a:t>TABLE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917"/>
                </a:solidFill>
                <a:latin typeface="Georgia"/>
              </a:defRPr>
            </a:pPr>
            <a:r>
              <a:t>10 Relational Tables Schema Specification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97280"/>
                <a:gridCol w="2011680"/>
                <a:gridCol w="2560320"/>
                <a:gridCol w="3108960"/>
              </a:tblGrid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D45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D45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FOREIGN KEYS</a:t>
                      </a:r>
                    </a:p>
                  </a:txBody>
                  <a:tcPr>
                    <a:solidFill>
                      <a:srgbClr val="D45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KEY COLUMN &amp; TYPE</a:t>
                      </a:r>
                    </a:p>
                  </a:txBody>
                  <a:tcPr>
                    <a:solidFill>
                      <a:srgbClr val="D45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ARCHITECTURAL ROLE</a:t>
                      </a:r>
                    </a:p>
                  </a:txBody>
                  <a:tcPr>
                    <a:solidFill>
                      <a:srgbClr val="D45644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id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password_hash (VARCHAR)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Bcrypt auth &amp;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accounts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id (PK)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is_reserve (BOOLEAN)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Liquid vs locked reserves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id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user_id, parent_id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category_type (VARCHAR)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Expense/Income hierarchy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transactions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id (PK)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account_id, cat_id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amount_minor (BIGINT)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Immutable paise ledger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budgets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id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total_limit_minor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Spending envelope caps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budget_allocations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id (PK)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budget_id, cat_id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allocated_amount_minor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Category limit envelopes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recurring_rules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id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account_id, 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next_due_date (DATE)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30-Day bill &amp; SIP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goals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id (PK)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target_amount_minor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Milestone targets &amp; velocity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goal_contributions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id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goal_id, txn_id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amount_minor (BIGINT)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Milestone deposit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app_settings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id (PK)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setting_value (TEXT)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Buffer cushion percentage</a:t>
                      </a:r>
                    </a:p>
                  </a:txBody>
                  <a:tcPr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5644"/>
                </a:solidFill>
                <a:latin typeface="Trebuchet MS"/>
              </a:defRPr>
            </a:pPr>
            <a:r>
              <a:t>API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917"/>
                </a:solidFill>
                <a:latin typeface="Georgia"/>
              </a:defRPr>
            </a:pPr>
            <a:r>
              <a:t>RESTful API Architecture: 42 Endpoints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731520"/>
          </a:xfrm>
          <a:prstGeom prst="roundRect">
            <a:avLst/>
          </a:prstGeom>
          <a:solidFill>
            <a:srgbClr val="FDEDE8"/>
          </a:solidFill>
          <a:ln w="19050">
            <a:solidFill>
              <a:srgbClr val="D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45644"/>
                </a:solidFill>
                <a:latin typeface="Trebuchet MS"/>
              </a:defRPr>
            </a:pPr>
            <a:r>
              <a:t>42 STRICTLY VALIDATED ENDPOINTS  •  Pydantic v2 Typed  •  OpenAPI 3.x Documented (/docs)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2011680" cy="1280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D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D7A58"/>
                </a:solidFill>
                <a:latin typeface="Trebuchet MS"/>
              </a:defRPr>
            </a:pPr>
            <a:r>
              <a:t>21 GET</a:t>
            </a:r>
          </a:p>
          <a:p>
            <a:pPr algn="ctr">
              <a:defRPr sz="1000">
                <a:solidFill>
                  <a:srgbClr val="1C1917"/>
                </a:solidFill>
                <a:latin typeface="Arial"/>
              </a:defRPr>
            </a:pPr>
            <a:r>
              <a:t>Dashboards, Reports, Ledgers, Exports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2468880"/>
            <a:ext cx="2011680" cy="1280160"/>
          </a:xfrm>
          <a:prstGeom prst="roundRect">
            <a:avLst/>
          </a:prstGeom>
          <a:solidFill>
            <a:srgbClr val="FDEDE8"/>
          </a:solidFill>
          <a:ln w="19050">
            <a:solidFill>
              <a:srgbClr val="D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45644"/>
                </a:solidFill>
                <a:latin typeface="Trebuchet MS"/>
              </a:defRPr>
            </a:pPr>
            <a:r>
              <a:t>12 POST</a:t>
            </a:r>
          </a:p>
          <a:p>
            <a:pPr algn="ctr">
              <a:defRPr sz="1000">
                <a:solidFill>
                  <a:srgbClr val="1C1917"/>
                </a:solidFill>
                <a:latin typeface="Arial"/>
              </a:defRPr>
            </a:pPr>
            <a:r>
              <a:t>Transactions, Transfers, Auth, Deposits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2468880"/>
            <a:ext cx="2011680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97706"/>
                </a:solidFill>
                <a:latin typeface="Trebuchet MS"/>
              </a:defRPr>
            </a:pPr>
            <a:r>
              <a:t>4 PATCH</a:t>
            </a:r>
          </a:p>
          <a:p>
            <a:pPr algn="ctr">
              <a:defRPr sz="1000">
                <a:solidFill>
                  <a:srgbClr val="1C1917"/>
                </a:solidFill>
                <a:latin typeface="Arial"/>
              </a:defRPr>
            </a:pPr>
            <a:r>
              <a:t>Inline Account, Category &amp; Rule Edits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2468880"/>
            <a:ext cx="20116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1917"/>
                </a:solidFill>
                <a:latin typeface="Trebuchet MS"/>
              </a:defRPr>
            </a:pPr>
            <a:r>
              <a:t>4 DELETE</a:t>
            </a:r>
          </a:p>
          <a:p>
            <a:pPr algn="ctr">
              <a:defRPr sz="1000">
                <a:solidFill>
                  <a:srgbClr val="1C1917"/>
                </a:solidFill>
                <a:latin typeface="Arial"/>
              </a:defRPr>
            </a:pPr>
            <a:r>
              <a:t>Cascading Ledger &amp; Rule Cleanups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2468880"/>
            <a:ext cx="2011680" cy="1280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D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D7A58"/>
                </a:solidFill>
                <a:latin typeface="Trebuchet MS"/>
              </a:defRPr>
            </a:pPr>
            <a:r>
              <a:t>1 PUT</a:t>
            </a:r>
          </a:p>
          <a:p>
            <a:pPr algn="ctr">
              <a:defRPr sz="1000">
                <a:solidFill>
                  <a:srgbClr val="1C1917"/>
                </a:solidFill>
                <a:latin typeface="Arial"/>
              </a:defRPr>
            </a:pPr>
            <a:r>
              <a:t>Full User Buffer &amp; Settings Replacement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8716C"/>
                </a:solidFill>
                <a:latin typeface="Trebuchet MS"/>
              </a:defRPr>
            </a:pPr>
            <a:r>
              <a:t>SIGNATURE CAPABILITIES &amp; ENDPOINTS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• 1. Runway Forecast: GET /api/v1/dashboard/money-weather  —  Calculates cash runway ratio → Returns 'Comfortable', 'Tightening', or 'At Risk'.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• 2. Atomic Transfers: POST /api/v1/transactions/transfers  —  Creates linked debit &amp; credit legs in one commit; rejects identical accounts with 400.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• 3. Budget Pacing Radar: GET /api/v1/budgets/{id}/performance  —  Calculates category velocity vs 'where you should be today' day markers.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• 4. In-Memory Streaming: GET /api/v1/export/transactions  —  Streams full CSV ledger directly from RAM via io.StringIO (zero disk writes on lambda).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5644"/>
                </a:solidFill>
                <a:latin typeface="Trebuchet MS"/>
              </a:defRPr>
            </a:pPr>
            <a:r>
              <a:t>THE ₹500 SWIGGY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917"/>
                </a:solidFill>
                <a:latin typeface="Georgia"/>
              </a:defRPr>
            </a:pPr>
            <a:r>
              <a:t>Client-to-Server Data Movement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057400"/>
          </a:xfrm>
          <a:prstGeom prst="roundRect">
            <a:avLst/>
          </a:prstGeom>
          <a:solidFill>
            <a:srgbClr val="FDEDE8"/>
          </a:solidFill>
          <a:ln w="19050">
            <a:solidFill>
              <a:srgbClr val="D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5644"/>
                </a:solidFill>
                <a:latin typeface="Trebuchet MS"/>
              </a:defRPr>
            </a:pPr>
            <a:r>
              <a:t>1. USER INPUT</a:t>
            </a:r>
          </a:p>
          <a:p>
            <a:pPr>
              <a:defRPr sz="1500" b="1">
                <a:solidFill>
                  <a:srgbClr val="1C1917"/>
                </a:solidFill>
                <a:latin typeface="Georgia"/>
              </a:defRPr>
            </a:pPr>
            <a:r>
              <a:t>Browser DOM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User hits 'Q' key for Quick Capture modal → enters ₹500 Swiggy expense from HDFC Bank.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2057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D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7A58"/>
                </a:solidFill>
                <a:latin typeface="Trebuchet MS"/>
              </a:defRPr>
            </a:pPr>
            <a:r>
              <a:t>2. SANITIZATION</a:t>
            </a:r>
          </a:p>
          <a:p>
            <a:pPr>
              <a:defRPr sz="1500" b="1">
                <a:solidFill>
                  <a:srgbClr val="1C1917"/>
                </a:solidFill>
                <a:latin typeface="Georgia"/>
              </a:defRPr>
            </a:pPr>
            <a:r>
              <a:t>Frontend Client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parseRupeesToPaise(500) converts input into integer 50000 paise. Floats eliminated.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2057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  <a:latin typeface="Trebuchet MS"/>
              </a:defRPr>
            </a:pPr>
            <a:r>
              <a:t>3. API DISPATCH</a:t>
            </a:r>
          </a:p>
          <a:p>
            <a:pPr>
              <a:defRPr sz="1500" b="1">
                <a:solidFill>
                  <a:srgbClr val="1C1917"/>
                </a:solidFill>
                <a:latin typeface="Georgia"/>
              </a:defRPr>
            </a:pPr>
            <a:r>
              <a:t>FastAPI Route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api.js sends async POST /api/v1/transactions with JSON payload and JWT Bearer token.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429000" cy="2057400"/>
          </a:xfrm>
          <a:prstGeom prst="roundRect">
            <a:avLst/>
          </a:prstGeom>
          <a:solidFill>
            <a:srgbClr val="FDEDE8"/>
          </a:solidFill>
          <a:ln w="19050">
            <a:solidFill>
              <a:srgbClr val="D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5644"/>
                </a:solidFill>
                <a:latin typeface="Trebuchet MS"/>
              </a:defRPr>
            </a:pPr>
            <a:r>
              <a:t>4. VALIDATION</a:t>
            </a:r>
          </a:p>
          <a:p>
            <a:pPr>
              <a:defRPr sz="1500" b="1">
                <a:solidFill>
                  <a:srgbClr val="1C1917"/>
                </a:solidFill>
                <a:latin typeface="Georgia"/>
              </a:defRPr>
            </a:pPr>
            <a:r>
              <a:t>Pydantic v2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Validates amount &gt; 0, verifies account exists, ensures active status before touching 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931920"/>
            <a:ext cx="3429000" cy="2057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D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7A58"/>
                </a:solidFill>
                <a:latin typeface="Trebuchet MS"/>
              </a:defRPr>
            </a:pPr>
            <a:r>
              <a:t>5. ATOMIC COMMIT</a:t>
            </a:r>
          </a:p>
          <a:p>
            <a:pPr>
              <a:defRPr sz="1500" b="1">
                <a:solidFill>
                  <a:srgbClr val="1C1917"/>
                </a:solidFill>
                <a:latin typeface="Georgia"/>
              </a:defRPr>
            </a:pPr>
            <a:r>
              <a:t>Neon Postgres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SQLAlchemy executes INSERT INTO transactions (amount_minor=50000). Row ID 42 commits.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931920"/>
            <a:ext cx="3429000" cy="2057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  <a:latin typeface="Trebuchet MS"/>
              </a:defRPr>
            </a:pPr>
            <a:r>
              <a:t>6. REACTIVE UI</a:t>
            </a:r>
          </a:p>
          <a:p>
            <a:pPr>
              <a:defRPr sz="1500" b="1">
                <a:solidFill>
                  <a:srgbClr val="1C1917"/>
                </a:solidFill>
                <a:latin typeface="Georgia"/>
              </a:defRPr>
            </a:pPr>
            <a:r>
              <a:t>Browser View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Confetti burst triggers! Toast shows 'Logged ₹500 🎉'. Dashboard re-counts Safe-to-Spend.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5644"/>
                </a:solidFill>
                <a:latin typeface="Trebuchet MS"/>
              </a:defRPr>
            </a:pPr>
            <a:r>
              <a:t>FINANCIAL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917"/>
                </a:solidFill>
                <a:latin typeface="Georgia"/>
              </a:defRPr>
            </a:pPr>
            <a:r>
              <a:t>8 Workspaces &amp; The Arithmetic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5644"/>
                </a:solidFill>
                <a:latin typeface="Georgia"/>
              </a:defRPr>
            </a:pPr>
            <a:r>
              <a:t>⛅ 1. Home Cockpit</a:t>
            </a:r>
          </a:p>
          <a:p>
            <a:pPr>
              <a:defRPr sz="1050">
                <a:solidFill>
                  <a:srgbClr val="1C1917"/>
                </a:solidFill>
                <a:latin typeface="Arial"/>
              </a:defRPr>
            </a:pPr>
            <a:r>
              <a:t>Weather Hero + Safe-to-Spend ring + 4 count-up KPIs.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5644"/>
                </a:solidFill>
                <a:latin typeface="Georgia"/>
              </a:defRPr>
            </a:pPr>
            <a:r>
              <a:t>🧾 2. Transactions</a:t>
            </a:r>
          </a:p>
          <a:p>
            <a:pPr>
              <a:defRPr sz="1050">
                <a:solidFill>
                  <a:srgbClr val="1C1917"/>
                </a:solidFill>
                <a:latin typeface="Arial"/>
              </a:defRPr>
            </a:pPr>
            <a:r>
              <a:t>Multi-filter ledger (accounts, categories, dates, methods).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5644"/>
                </a:solidFill>
                <a:latin typeface="Georgia"/>
              </a:defRPr>
            </a:pPr>
            <a:r>
              <a:t>🏦 3. Accounts Center</a:t>
            </a:r>
          </a:p>
          <a:p>
            <a:pPr>
              <a:defRPr sz="1050">
                <a:solidFill>
                  <a:srgbClr val="1C1917"/>
                </a:solidFill>
                <a:latin typeface="Arial"/>
              </a:defRPr>
            </a:pPr>
            <a:r>
              <a:t>Liquid Spendable vs Locked Emergency Reserves separation.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5644"/>
                </a:solidFill>
                <a:latin typeface="Georgia"/>
              </a:defRPr>
            </a:pPr>
            <a:r>
              <a:t>💓 4. Budget Pulse</a:t>
            </a:r>
          </a:p>
          <a:p>
            <a:pPr>
              <a:defRPr sz="1050">
                <a:solidFill>
                  <a:srgbClr val="1C1917"/>
                </a:solidFill>
                <a:latin typeface="Arial"/>
              </a:defRPr>
            </a:pPr>
            <a:r>
              <a:t>Real-time run-rate bars with 'where you should be today' marker.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5644"/>
                </a:solidFill>
                <a:latin typeface="Georgia"/>
              </a:defRPr>
            </a:pPr>
            <a:r>
              <a:t>🎯 5. Goal Momentum</a:t>
            </a:r>
          </a:p>
          <a:p>
            <a:pPr>
              <a:defRPr sz="1050">
                <a:solidFill>
                  <a:srgbClr val="1C1917"/>
                </a:solidFill>
                <a:latin typeface="Arial"/>
              </a:defRPr>
            </a:pPr>
            <a:r>
              <a:t>Milestone progress rings with 3-month savings velocity forecast.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38328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5644"/>
                </a:solidFill>
                <a:latin typeface="Georgia"/>
              </a:defRPr>
            </a:pPr>
            <a:r>
              <a:t>📅 6. Recurring Radar</a:t>
            </a:r>
          </a:p>
          <a:p>
            <a:pPr>
              <a:defRPr sz="1050">
                <a:solidFill>
                  <a:srgbClr val="1C1917"/>
                </a:solidFill>
                <a:latin typeface="Arial"/>
              </a:defRPr>
            </a:pPr>
            <a:r>
              <a:t>30-day timeline for EMIs, SIP investments, and utility debits.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38328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5644"/>
                </a:solidFill>
                <a:latin typeface="Georgia"/>
              </a:defRPr>
            </a:pPr>
            <a:r>
              <a:t>🧬 7. Spending DNA</a:t>
            </a:r>
          </a:p>
          <a:p>
            <a:pPr>
              <a:defRPr sz="1050">
                <a:solidFill>
                  <a:srgbClr val="1C1917"/>
                </a:solidFill>
                <a:latin typeface="Arial"/>
              </a:defRPr>
            </a:pPr>
            <a:r>
              <a:t>Behavioral pattern detection, anomaly alerts, Chart.js donuts.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38328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45644"/>
                </a:solidFill>
                <a:latin typeface="Georgia"/>
              </a:defRPr>
            </a:pPr>
            <a:r>
              <a:t>⚙️ 8. Data &amp; Portability</a:t>
            </a:r>
          </a:p>
          <a:p>
            <a:pPr>
              <a:defRPr sz="1050">
                <a:solidFill>
                  <a:srgbClr val="1C1917"/>
                </a:solidFill>
                <a:latin typeface="Arial"/>
              </a:defRPr>
            </a:pPr>
            <a:r>
              <a:t>Safety cushion slider (5-20%) + in-memory CSV/JSON backup dumps.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D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7A58"/>
                </a:solidFill>
                <a:latin typeface="Trebuchet MS"/>
              </a:defRPr>
            </a:pPr>
            <a:r>
              <a:t>SAFE-TO-SPEND FORMULA = Max(0, Liquid Funds + Expected Inflows - Outflows - Buffer Cushion)</a:t>
            </a:r>
          </a:p>
          <a:p>
            <a:pPr algn="ctr">
              <a:defRPr sz="1100">
                <a:solidFill>
                  <a:srgbClr val="1C1917"/>
                </a:solidFill>
                <a:latin typeface="Arial"/>
              </a:defRPr>
            </a:pPr>
            <a:r>
              <a:t>Runway Ratio: &gt;=1.25 Comfortable (Sun)  |  &gt;=1.0 Tightening (Clouds)  |  &lt;1.0 At Risk (Rain)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5644"/>
                </a:solidFill>
                <a:latin typeface="Trebuchet MS"/>
              </a:defRPr>
            </a:pPr>
            <a:r>
              <a:t>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917"/>
                </a:solidFill>
                <a:latin typeface="Georgia"/>
              </a:defRPr>
            </a:pPr>
            <a:r>
              <a:t>Production Deployment on Vercel &amp; Neon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3383280"/>
          </a:xfrm>
          <a:prstGeom prst="roundRect">
            <a:avLst/>
          </a:prstGeom>
          <a:solidFill>
            <a:srgbClr val="FDEDE8"/>
          </a:solidFill>
          <a:ln w="19050">
            <a:solidFill>
              <a:srgbClr val="D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45644"/>
                </a:solidFill>
                <a:latin typeface="Trebuchet MS"/>
              </a:defRPr>
            </a:pPr>
            <a:r>
              <a:t>1. REPOSITORY &amp; CI/CD</a:t>
            </a:r>
          </a:p>
          <a:p>
            <a:pPr>
              <a:defRPr sz="1600" b="1">
                <a:solidFill>
                  <a:srgbClr val="1C1917"/>
                </a:solidFill>
                <a:latin typeface="Georgia"/>
              </a:defRPr>
            </a:pPr>
            <a:r>
              <a:t>GitHub Version Control</a:t>
            </a:r>
          </a:p>
          <a:p>
            <a:pPr>
              <a:defRPr sz="600"/>
            </a:pPr>
            <a:r>
              <a:t> </a:t>
            </a:r>
          </a:p>
          <a:p>
            <a:pPr>
              <a:defRPr sz="1150">
                <a:solidFill>
                  <a:srgbClr val="1C1917"/>
                </a:solidFill>
                <a:latin typeface="Arial"/>
              </a:defRPr>
            </a:pPr>
            <a:r>
              <a:t>• Repository: SanskritiVadher/klyro</a:t>
            </a:r>
          </a:p>
          <a:p>
            <a:pPr>
              <a:defRPr sz="1150">
                <a:solidFill>
                  <a:srgbClr val="1C1917"/>
                </a:solidFill>
                <a:latin typeface="Arial"/>
              </a:defRPr>
            </a:pPr>
            <a:r>
              <a:t>• Automated deployment on push to 'main'</a:t>
            </a:r>
          </a:p>
          <a:p>
            <a:pPr>
              <a:defRPr sz="1150">
                <a:solidFill>
                  <a:srgbClr val="1C1917"/>
                </a:solidFill>
                <a:latin typeface="Arial"/>
              </a:defRPr>
            </a:pPr>
            <a:r>
              <a:t>• Git-ignored .env and *.db (zero secrets leaked)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33832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D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D7A58"/>
                </a:solidFill>
                <a:latin typeface="Trebuchet MS"/>
              </a:defRPr>
            </a:pPr>
            <a:r>
              <a:t>2. SERVERLESS EDGE</a:t>
            </a:r>
          </a:p>
          <a:p>
            <a:pPr>
              <a:defRPr sz="1600" b="1">
                <a:solidFill>
                  <a:srgbClr val="1C1917"/>
                </a:solidFill>
                <a:latin typeface="Georgia"/>
              </a:defRPr>
            </a:pPr>
            <a:r>
              <a:t>Vercel Python Runtime</a:t>
            </a:r>
          </a:p>
          <a:p>
            <a:pPr>
              <a:defRPr sz="600"/>
            </a:pPr>
            <a:r>
              <a:t> </a:t>
            </a:r>
          </a:p>
          <a:p>
            <a:pPr>
              <a:defRPr sz="1150">
                <a:solidFill>
                  <a:srgbClr val="1C1917"/>
                </a:solidFill>
                <a:latin typeface="Arial"/>
              </a:defRPr>
            </a:pPr>
            <a:r>
              <a:t>• Native FastAPI detection via pyproject.toml</a:t>
            </a:r>
          </a:p>
          <a:p>
            <a:pPr>
              <a:defRPr sz="1150">
                <a:solidFill>
                  <a:srgbClr val="1C1917"/>
                </a:solidFill>
                <a:latin typeface="Arial"/>
              </a:defRPr>
            </a:pPr>
            <a:r>
              <a:t>• Pinned Python 3.12 Serverless Runtime</a:t>
            </a:r>
          </a:p>
          <a:p>
            <a:pPr>
              <a:defRPr sz="1150">
                <a:solidFill>
                  <a:srgbClr val="1C1917"/>
                </a:solidFill>
                <a:latin typeface="Arial"/>
              </a:defRPr>
            </a:pPr>
            <a:r>
              <a:t>• In-Memory CSV/JSON streaming (No disk writes)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33832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  <a:latin typeface="Trebuchet MS"/>
              </a:defRPr>
            </a:pPr>
            <a:r>
              <a:t>3. DATABASE INFRA</a:t>
            </a:r>
          </a:p>
          <a:p>
            <a:pPr>
              <a:defRPr sz="1600" b="1">
                <a:solidFill>
                  <a:srgbClr val="1C1917"/>
                </a:solidFill>
                <a:latin typeface="Georgia"/>
              </a:defRPr>
            </a:pPr>
            <a:r>
              <a:t>Neon Serverless PostgreSQL</a:t>
            </a:r>
          </a:p>
          <a:p>
            <a:pPr>
              <a:defRPr sz="600"/>
            </a:pPr>
            <a:r>
              <a:t> </a:t>
            </a:r>
          </a:p>
          <a:p>
            <a:pPr>
              <a:defRPr sz="1150">
                <a:solidFill>
                  <a:srgbClr val="1C1917"/>
                </a:solidFill>
                <a:latin typeface="Arial"/>
              </a:defRPr>
            </a:pPr>
            <a:r>
              <a:t>• Connection Pooling enabled (ep-pooler URL)</a:t>
            </a:r>
          </a:p>
          <a:p>
            <a:pPr>
              <a:defRPr sz="1150">
                <a:solidFill>
                  <a:srgbClr val="1C1917"/>
                </a:solidFill>
                <a:latin typeface="Arial"/>
              </a:defRPr>
            </a:pPr>
            <a:r>
              <a:t>• pool_pre_ping = True prevents cold drops</a:t>
            </a:r>
          </a:p>
          <a:p>
            <a:pPr>
              <a:defRPr sz="1150">
                <a:solidFill>
                  <a:srgbClr val="1C1917"/>
                </a:solidFill>
                <a:latin typeface="Arial"/>
              </a:defRPr>
            </a:pPr>
            <a:r>
              <a:t>• Native BIGINT, BOOLEAN &amp; TIMESTAMP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45644"/>
                </a:solidFill>
                <a:latin typeface="Trebuchet MS"/>
              </a:defRPr>
            </a:pPr>
            <a:r>
              <a:t>LIVE PRODUCTION APPLICATION:  https://klyro-iota.vercel.app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5644"/>
                </a:solidFill>
                <a:latin typeface="Trebuchet MS"/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917"/>
                </a:solidFill>
                <a:latin typeface="Georgia"/>
              </a:defRPr>
            </a:pPr>
            <a:r>
              <a:t>Engineering Accomplishments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1737360"/>
          </a:xfrm>
          <a:prstGeom prst="roundRect">
            <a:avLst/>
          </a:prstGeom>
          <a:solidFill>
            <a:srgbClr val="FDEDE8"/>
          </a:solidFill>
          <a:ln w="19050">
            <a:solidFill>
              <a:srgbClr val="D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5644"/>
                </a:solidFill>
                <a:latin typeface="Trebuchet MS"/>
              </a:defRPr>
            </a:pPr>
            <a:r>
              <a:t>DETERMINISTIC ACCURACY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100% Integer Paise math eliminates binary floating-point drift across all calculations.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17373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D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7A58"/>
                </a:solidFill>
                <a:latin typeface="Trebuchet MS"/>
              </a:defRPr>
            </a:pPr>
            <a:r>
              <a:t>DECOUPLED SIMPLICITY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Zero-build native Vanilla ES Modules frontend paired with asynchronous FastAPI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5257800" cy="17373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  <a:latin typeface="Trebuchet MS"/>
              </a:defRPr>
            </a:pPr>
            <a:r>
              <a:t>ENTERPRISE API COVERAGE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42 REST endpoints verified by automated Pytest suite (36/36 tests passing).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657600"/>
            <a:ext cx="5257800" cy="1737360"/>
          </a:xfrm>
          <a:prstGeom prst="roundRect">
            <a:avLst/>
          </a:prstGeom>
          <a:solidFill>
            <a:srgbClr val="FDEDE8"/>
          </a:solidFill>
          <a:ln w="19050">
            <a:solidFill>
              <a:srgbClr val="D45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5644"/>
                </a:solidFill>
                <a:latin typeface="Trebuchet MS"/>
              </a:defRPr>
            </a:pPr>
            <a:r>
              <a:t>CLOUD-NATIVE PORTABILITY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Seamlessly runs on SQLite for offline local dev and Neon Postgres on Vercel in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917"/>
                </a:solidFill>
                <a:latin typeface="Trebuchet MS"/>
              </a:defRPr>
            </a:pPr>
            <a:r>
              <a:t>THANK YOU!  •  Questions &amp; Live Demonstration  •  https://klyro-iota.vercel.app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